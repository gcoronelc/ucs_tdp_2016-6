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69" r:id="rId2"/>
    <p:sldId id="256" r:id="rId3"/>
    <p:sldId id="271" r:id="rId4"/>
    <p:sldId id="258" r:id="rId5"/>
    <p:sldId id="259" r:id="rId6"/>
    <p:sldId id="260" r:id="rId7"/>
    <p:sldId id="261" r:id="rId8"/>
    <p:sldId id="262" r:id="rId9"/>
    <p:sldId id="257" r:id="rId10"/>
    <p:sldId id="263" r:id="rId11"/>
    <p:sldId id="270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4202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04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55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731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793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700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54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780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469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521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4401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39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5720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8350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249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581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E90A3-8FC3-4BA7-AF50-6655241C0473}" type="datetimeFigureOut">
              <a:rPr lang="es-PE" smtClean="0"/>
              <a:t>06/12/2016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16053D-87CD-4146-9C22-C1F6B430DA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497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kaitzgarro.com/html5/capitulo-13.html" TargetMode="External"/><Relationship Id="rId7" Type="http://schemas.openxmlformats.org/officeDocument/2006/relationships/hyperlink" Target="https://www.youtube.com/watch?v=GhuyqjWPjGk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SCe5A0lQzlM" TargetMode="External"/><Relationship Id="rId5" Type="http://schemas.openxmlformats.org/officeDocument/2006/relationships/hyperlink" Target="http://es.wikipedia.org/wiki/WebSocket" TargetMode="External"/><Relationship Id="rId4" Type="http://schemas.openxmlformats.org/officeDocument/2006/relationships/hyperlink" Target="https://www.websocket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ctrTitle"/>
          </p:nvPr>
        </p:nvSpPr>
        <p:spPr>
          <a:xfrm>
            <a:off x="1524000" y="1665369"/>
            <a:ext cx="7106741" cy="347052"/>
          </a:xfrm>
        </p:spPr>
        <p:txBody>
          <a:bodyPr>
            <a:normAutofit/>
          </a:bodyPr>
          <a:lstStyle/>
          <a:p>
            <a:pPr algn="ctr"/>
            <a:r>
              <a:rPr lang="es-PE" altLang="es-PE" sz="1600" b="1" dirty="0" smtClean="0">
                <a:solidFill>
                  <a:srgbClr val="C00000"/>
                </a:solidFill>
                <a:ea typeface="Geneva"/>
                <a:cs typeface="Geneva"/>
              </a:rPr>
              <a:t>FACULTAD </a:t>
            </a:r>
            <a:r>
              <a:rPr lang="es-PE" altLang="es-PE" sz="1600" b="1" dirty="0">
                <a:solidFill>
                  <a:srgbClr val="C00000"/>
                </a:solidFill>
                <a:ea typeface="Geneva"/>
                <a:cs typeface="Geneva"/>
              </a:rPr>
              <a:t>DE INGENIERIA DE SISTEMAS EMPRESARIALES</a:t>
            </a:r>
            <a:endParaRPr lang="es-PE" altLang="es-PE" sz="1600" dirty="0">
              <a:solidFill>
                <a:srgbClr val="C00000"/>
              </a:solidFill>
              <a:ea typeface="Geneva"/>
              <a:cs typeface="Geneva"/>
            </a:endParaRP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1524000" y="64008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2000"/>
              </a:spcBef>
              <a:buClr>
                <a:schemeClr val="accent1"/>
              </a:buClr>
              <a:buSzPct val="75000"/>
              <a:buBlip>
                <a:blip r:embed="rId2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1pPr>
            <a:lvl2pPr marL="742950" indent="-285750">
              <a:spcBef>
                <a:spcPts val="600"/>
              </a:spcBef>
              <a:buClr>
                <a:srgbClr val="4A60CE"/>
              </a:buClr>
              <a:buSzPct val="75000"/>
              <a:buBlip>
                <a:blip r:embed="rId3"/>
              </a:buBlip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2pPr>
            <a:lvl3pPr marL="1143000" indent="-228600">
              <a:spcBef>
                <a:spcPts val="600"/>
              </a:spcBef>
              <a:buClr>
                <a:schemeClr val="accent1"/>
              </a:buClr>
              <a:buSzPct val="75000"/>
              <a:buBlip>
                <a:blip r:embed="rId4"/>
              </a:buBlip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3pPr>
            <a:lvl4pPr marL="1600200" indent="-228600">
              <a:spcBef>
                <a:spcPts val="600"/>
              </a:spcBef>
              <a:buClr>
                <a:srgbClr val="4A60CE"/>
              </a:buClr>
              <a:buSzPct val="75000"/>
              <a:buBlip>
                <a:blip r:embed="rId5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4pPr>
            <a:lvl5pPr marL="2057400" indent="-228600">
              <a:spcBef>
                <a:spcPts val="600"/>
              </a:spcBef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9pPr>
          </a:lstStyle>
          <a:p>
            <a:pPr defTabSz="457200">
              <a:spcBef>
                <a:spcPct val="0"/>
              </a:spcBef>
              <a:buClrTx/>
              <a:buSzTx/>
              <a:buNone/>
            </a:pPr>
            <a:r>
              <a:rPr lang="pt-BR" altLang="es-PE" sz="2400" dirty="0">
                <a:solidFill>
                  <a:srgbClr val="0E1638"/>
                </a:solidFill>
              </a:rPr>
              <a:t> </a:t>
            </a:r>
            <a:endParaRPr lang="es-ES" altLang="es-PE" sz="2400" dirty="0">
              <a:solidFill>
                <a:srgbClr val="27343A"/>
              </a:solidFill>
            </a:endParaRPr>
          </a:p>
        </p:txBody>
      </p:sp>
      <p:sp>
        <p:nvSpPr>
          <p:cNvPr id="11272" name="CuadroTexto 3"/>
          <p:cNvSpPr txBox="1">
            <a:spLocks noChangeArrowheads="1"/>
          </p:cNvSpPr>
          <p:nvPr/>
        </p:nvSpPr>
        <p:spPr bwMode="auto">
          <a:xfrm>
            <a:off x="2534236" y="2253232"/>
            <a:ext cx="7683500" cy="3888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2000"/>
              </a:spcBef>
              <a:buClr>
                <a:schemeClr val="accent1"/>
              </a:buClr>
              <a:buSzPct val="75000"/>
              <a:buBlip>
                <a:blip r:embed="rId2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1pPr>
            <a:lvl2pPr marL="742950" indent="-285750">
              <a:spcBef>
                <a:spcPts val="600"/>
              </a:spcBef>
              <a:buClr>
                <a:srgbClr val="4A60CE"/>
              </a:buClr>
              <a:buSzPct val="75000"/>
              <a:buBlip>
                <a:blip r:embed="rId3"/>
              </a:buBlip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2pPr>
            <a:lvl3pPr marL="1143000" indent="-228600">
              <a:spcBef>
                <a:spcPts val="600"/>
              </a:spcBef>
              <a:buClr>
                <a:schemeClr val="accent1"/>
              </a:buClr>
              <a:buSzPct val="75000"/>
              <a:buBlip>
                <a:blip r:embed="rId4"/>
              </a:buBlip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3pPr>
            <a:lvl4pPr marL="1600200" indent="-228600">
              <a:spcBef>
                <a:spcPts val="600"/>
              </a:spcBef>
              <a:buClr>
                <a:srgbClr val="4A60CE"/>
              </a:buClr>
              <a:buSzPct val="75000"/>
              <a:buBlip>
                <a:blip r:embed="rId5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4pPr>
            <a:lvl5pPr marL="2057400" indent="-228600">
              <a:spcBef>
                <a:spcPts val="600"/>
              </a:spcBef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Blip>
                <a:blip r:embed="rId6"/>
              </a:buBlip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Geneva"/>
                <a:cs typeface="Geneva"/>
              </a:defRPr>
            </a:lvl9pPr>
          </a:lstStyle>
          <a:p>
            <a:pPr marL="0" indent="0" algn="ctr">
              <a:buNone/>
              <a:defRPr/>
            </a:pPr>
            <a:r>
              <a:rPr lang="es-PE" b="1" dirty="0" smtClean="0">
                <a:solidFill>
                  <a:srgbClr val="1B2764"/>
                </a:solidFill>
              </a:rPr>
              <a:t>Tema</a:t>
            </a:r>
            <a:r>
              <a:rPr lang="es-PE" b="1" dirty="0">
                <a:solidFill>
                  <a:srgbClr val="1B2764"/>
                </a:solidFill>
              </a:rPr>
              <a:t>: 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WEBSOCKETS</a:t>
            </a:r>
            <a:endParaRPr lang="es-PE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defTabSz="457200">
              <a:buClr>
                <a:srgbClr val="1B2764"/>
              </a:buClr>
              <a:buNone/>
              <a:defRPr/>
            </a:pPr>
            <a:r>
              <a:rPr lang="es-PE" b="1" dirty="0">
                <a:solidFill>
                  <a:srgbClr val="1B2764"/>
                </a:solidFill>
              </a:rPr>
              <a:t>Alumnos:</a:t>
            </a:r>
            <a:endParaRPr lang="es-PE" dirty="0">
              <a:solidFill>
                <a:srgbClr val="1B2764"/>
              </a:solidFill>
            </a:endParaRPr>
          </a:p>
          <a:p>
            <a:pPr marL="0" indent="0" defTabSz="457200">
              <a:spcBef>
                <a:spcPts val="0"/>
              </a:spcBef>
              <a:buClr>
                <a:srgbClr val="1B2764"/>
              </a:buClr>
              <a:buNone/>
              <a:defRPr/>
            </a:pPr>
            <a:r>
              <a:rPr lang="es-PE" dirty="0">
                <a:solidFill>
                  <a:srgbClr val="1B2764"/>
                </a:solidFill>
              </a:rPr>
              <a:t>			     </a:t>
            </a:r>
            <a:r>
              <a:rPr lang="es-PE" dirty="0" smtClean="0">
                <a:solidFill>
                  <a:srgbClr val="1B2764"/>
                </a:solidFill>
              </a:rPr>
              <a:t>Sandro Arce</a:t>
            </a:r>
            <a:endParaRPr lang="es-PE" dirty="0">
              <a:solidFill>
                <a:srgbClr val="1B2764"/>
              </a:solidFill>
            </a:endParaRPr>
          </a:p>
          <a:p>
            <a:pPr marL="1714500" lvl="4" indent="0" defTabSz="457200">
              <a:spcBef>
                <a:spcPts val="0"/>
              </a:spcBef>
              <a:buClr>
                <a:srgbClr val="1B2764"/>
              </a:buClr>
              <a:buNone/>
              <a:defRPr/>
            </a:pPr>
            <a:r>
              <a:rPr lang="es-PE" dirty="0">
                <a:solidFill>
                  <a:srgbClr val="1B2764"/>
                </a:solidFill>
              </a:rPr>
              <a:t>Fernando Cuesta</a:t>
            </a:r>
          </a:p>
          <a:p>
            <a:pPr marL="1714500" lvl="4" indent="0" defTabSz="457200">
              <a:spcBef>
                <a:spcPts val="0"/>
              </a:spcBef>
              <a:buClr>
                <a:srgbClr val="1B2764"/>
              </a:buClr>
              <a:buNone/>
              <a:defRPr/>
            </a:pPr>
            <a:r>
              <a:rPr lang="es-PE" dirty="0" smtClean="0">
                <a:solidFill>
                  <a:srgbClr val="1B2764"/>
                </a:solidFill>
              </a:rPr>
              <a:t>Alexys García</a:t>
            </a:r>
            <a:endParaRPr lang="es-PE" dirty="0">
              <a:solidFill>
                <a:srgbClr val="1B2764"/>
              </a:solidFill>
            </a:endParaRPr>
          </a:p>
          <a:p>
            <a:pPr marL="1714500" lvl="4" indent="0" defTabSz="457200">
              <a:spcBef>
                <a:spcPts val="0"/>
              </a:spcBef>
              <a:buClr>
                <a:srgbClr val="1B2764"/>
              </a:buClr>
              <a:buNone/>
              <a:defRPr/>
            </a:pPr>
            <a:endParaRPr lang="es-PE" dirty="0">
              <a:solidFill>
                <a:srgbClr val="1B2764"/>
              </a:solidFill>
            </a:endParaRPr>
          </a:p>
          <a:p>
            <a:pPr marL="0" indent="0" defTabSz="457200">
              <a:buClr>
                <a:srgbClr val="1B2764"/>
              </a:buClr>
              <a:buNone/>
              <a:defRPr/>
            </a:pPr>
            <a:r>
              <a:rPr lang="es-PE" b="1" dirty="0">
                <a:solidFill>
                  <a:srgbClr val="1B2764"/>
                </a:solidFill>
              </a:rPr>
              <a:t>Profesor</a:t>
            </a:r>
            <a:r>
              <a:rPr lang="es-PE" b="1" dirty="0" smtClean="0">
                <a:solidFill>
                  <a:srgbClr val="1B2764"/>
                </a:solidFill>
              </a:rPr>
              <a:t>: </a:t>
            </a:r>
            <a:r>
              <a:rPr lang="es-PE" dirty="0" smtClean="0">
                <a:solidFill>
                  <a:srgbClr val="1B2764"/>
                </a:solidFill>
              </a:rPr>
              <a:t>Gustavo Coronel castillo</a:t>
            </a:r>
            <a:endParaRPr lang="es-PE" dirty="0">
              <a:solidFill>
                <a:srgbClr val="1B2764"/>
              </a:solidFill>
            </a:endParaRPr>
          </a:p>
          <a:p>
            <a:pPr marL="0" indent="0" defTabSz="457200">
              <a:buClr>
                <a:srgbClr val="1B2764"/>
              </a:buClr>
              <a:buNone/>
              <a:defRPr/>
            </a:pPr>
            <a:r>
              <a:rPr lang="es-PE" b="1" dirty="0">
                <a:solidFill>
                  <a:srgbClr val="1B2764"/>
                </a:solidFill>
              </a:rPr>
              <a:t>Curso</a:t>
            </a:r>
            <a:r>
              <a:rPr lang="es-PE" b="1" dirty="0" smtClean="0">
                <a:solidFill>
                  <a:srgbClr val="1B2764"/>
                </a:solidFill>
              </a:rPr>
              <a:t>: </a:t>
            </a:r>
            <a:r>
              <a:rPr lang="es-PE" dirty="0" smtClean="0">
                <a:solidFill>
                  <a:srgbClr val="1B2764"/>
                </a:solidFill>
              </a:rPr>
              <a:t>Taller de Programación</a:t>
            </a:r>
            <a:endParaRPr lang="es-PE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r" defTabSz="457200">
              <a:buClr>
                <a:srgbClr val="1B2764"/>
              </a:buClr>
              <a:buNone/>
              <a:defRPr/>
            </a:pPr>
            <a:r>
              <a:rPr lang="es-PE" b="1" dirty="0" smtClean="0">
                <a:solidFill>
                  <a:schemeClr val="tx1"/>
                </a:solidFill>
              </a:rPr>
              <a:t>Diciembre 2016</a:t>
            </a:r>
            <a:endParaRPr lang="es-PE" b="1" dirty="0">
              <a:solidFill>
                <a:schemeClr val="tx1"/>
              </a:solidFill>
            </a:endParaRPr>
          </a:p>
        </p:txBody>
      </p:sp>
      <p:pic>
        <p:nvPicPr>
          <p:cNvPr id="6" name="image59.png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2541815" y="8019"/>
            <a:ext cx="5071110" cy="16573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4189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191264" y="828354"/>
            <a:ext cx="3985386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defTabSz="457200">
              <a:spcBef>
                <a:spcPct val="0"/>
              </a:spcBef>
              <a:buNone/>
              <a:defRPr sz="3600" b="1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s-PE" dirty="0"/>
              <a:t>Marco conceptual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14315" y="2169713"/>
            <a:ext cx="9139285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>
              <a:defRPr>
                <a:solidFill>
                  <a:srgbClr val="3B3835"/>
                </a:solidFill>
                <a:latin typeface="Helvetica Neue"/>
              </a:defRPr>
            </a:lvl1pPr>
          </a:lstStyle>
          <a:p>
            <a:r>
              <a:rPr lang="es-PE" dirty="0"/>
              <a:t>Desde hace bastante años ha sido posible la comunicación entre cliente y servidor utilizando el protocolo HTTP.</a:t>
            </a:r>
          </a:p>
          <a:p>
            <a:endParaRPr lang="es-PE" dirty="0"/>
          </a:p>
          <a:p>
            <a:r>
              <a:rPr lang="es-PE" dirty="0"/>
              <a:t>Sin embargo, esta comunicación si bien es full dúplex y bidireccional, no permite que el servidor le </a:t>
            </a:r>
            <a:r>
              <a:rPr lang="es-PE" dirty="0" smtClean="0"/>
              <a:t>envíe </a:t>
            </a:r>
            <a:r>
              <a:rPr lang="es-PE" dirty="0"/>
              <a:t>contenido </a:t>
            </a:r>
            <a:r>
              <a:rPr lang="es-PE" dirty="0" smtClean="0"/>
              <a:t>por </a:t>
            </a:r>
            <a:r>
              <a:rPr lang="es-PE" dirty="0"/>
              <a:t>cuenta propia al cliente.</a:t>
            </a:r>
          </a:p>
          <a:p>
            <a:endParaRPr lang="es-PE" dirty="0"/>
          </a:p>
          <a:p>
            <a:r>
              <a:rPr lang="es-PE" dirty="0"/>
              <a:t>Esto ha sido “solucionado” en múltiples oportunidades a través de aplicaciones que simulan(desde el punto de vista del usuario y/o programador) una conexión única en la que el servidor puede enviar contenido de manera asincrónica al cliente.</a:t>
            </a:r>
          </a:p>
        </p:txBody>
      </p:sp>
      <p:pic>
        <p:nvPicPr>
          <p:cNvPr id="5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5815024"/>
            <a:ext cx="3191264" cy="10429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1943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9887" y="791613"/>
            <a:ext cx="2622457" cy="622852"/>
          </a:xfrm>
        </p:spPr>
        <p:txBody>
          <a:bodyPr>
            <a:normAutofit fontScale="90000"/>
          </a:bodyPr>
          <a:lstStyle/>
          <a:p>
            <a:r>
              <a:rPr lang="es-PE" b="1" dirty="0" smtClean="0">
                <a:solidFill>
                  <a:srgbClr val="C00000"/>
                </a:solidFill>
              </a:rPr>
              <a:t>WebSockets</a:t>
            </a:r>
            <a:endParaRPr lang="es-PE" b="1" dirty="0">
              <a:solidFill>
                <a:srgbClr val="C0000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biLevel thresh="75000"/>
          </a:blip>
          <a:srcRect l="8588" t="31610" r="23913" b="50322"/>
          <a:stretch/>
        </p:blipFill>
        <p:spPr>
          <a:xfrm>
            <a:off x="1266316" y="1568175"/>
            <a:ext cx="8229601" cy="1239079"/>
          </a:xfrm>
          <a:prstGeom prst="rect">
            <a:avLst/>
          </a:prstGeom>
        </p:spPr>
      </p:pic>
      <p:pic>
        <p:nvPicPr>
          <p:cNvPr id="6" name="image5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3191264" cy="1042975"/>
          </a:xfrm>
          <a:prstGeom prst="rect">
            <a:avLst/>
          </a:prstGeom>
          <a:ln/>
        </p:spPr>
      </p:pic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912" y="2807254"/>
            <a:ext cx="6627556" cy="405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5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73500" y="768627"/>
            <a:ext cx="3404336" cy="649357"/>
          </a:xfrm>
        </p:spPr>
        <p:txBody>
          <a:bodyPr vert="horz" lIns="91440" tIns="45720" rIns="91440" bIns="45720" rtlCol="0" anchor="t">
            <a:normAutofit fontScale="97500"/>
          </a:bodyPr>
          <a:lstStyle/>
          <a:p>
            <a:r>
              <a:rPr lang="es-PE" b="1" dirty="0">
                <a:solidFill>
                  <a:srgbClr val="C00000"/>
                </a:solidFill>
              </a:rPr>
              <a:t>Características</a:t>
            </a:r>
          </a:p>
        </p:txBody>
      </p:sp>
      <p:pic>
        <p:nvPicPr>
          <p:cNvPr id="5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3791" y="5740992"/>
            <a:ext cx="3191264" cy="1042975"/>
          </a:xfrm>
          <a:prstGeom prst="rect">
            <a:avLst/>
          </a:prstGeom>
          <a:ln/>
        </p:spPr>
      </p:pic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345989" y="2160589"/>
            <a:ext cx="9531179" cy="3880773"/>
          </a:xfrm>
        </p:spPr>
        <p:txBody>
          <a:bodyPr/>
          <a:lstStyle/>
          <a:p>
            <a:r>
              <a:rPr lang="es-PE" dirty="0" smtClean="0"/>
              <a:t>Protocolos </a:t>
            </a:r>
            <a:r>
              <a:rPr lang="es-PE" dirty="0"/>
              <a:t>W3C API y IETF </a:t>
            </a:r>
            <a:r>
              <a:rPr lang="es-PE" dirty="0" err="1"/>
              <a:t>Protocol</a:t>
            </a:r>
            <a:r>
              <a:rPr lang="es-PE" dirty="0"/>
              <a:t> </a:t>
            </a:r>
            <a:endParaRPr lang="es-PE" dirty="0" smtClean="0"/>
          </a:p>
          <a:p>
            <a:r>
              <a:rPr lang="es-PE" dirty="0" smtClean="0"/>
              <a:t>Full-</a:t>
            </a:r>
            <a:r>
              <a:rPr lang="es-PE" dirty="0" err="1" smtClean="0"/>
              <a:t>duplex</a:t>
            </a:r>
            <a:r>
              <a:rPr lang="es-PE" dirty="0"/>
              <a:t>, single socket </a:t>
            </a:r>
          </a:p>
          <a:p>
            <a:r>
              <a:rPr lang="es-PE" dirty="0" smtClean="0"/>
              <a:t>Comunican </a:t>
            </a:r>
            <a:r>
              <a:rPr lang="es-PE" dirty="0"/>
              <a:t>las páginas con un Servidor remoto  Atraviesa firewalls, </a:t>
            </a:r>
            <a:r>
              <a:rPr lang="es-PE" dirty="0" err="1"/>
              <a:t>proxies</a:t>
            </a:r>
            <a:r>
              <a:rPr lang="es-PE" dirty="0"/>
              <a:t>, y </a:t>
            </a:r>
            <a:r>
              <a:rPr lang="es-PE" dirty="0" err="1"/>
              <a:t>routers</a:t>
            </a:r>
            <a:r>
              <a:rPr lang="es-PE" dirty="0"/>
              <a:t> </a:t>
            </a:r>
            <a:endParaRPr lang="es-PE" dirty="0" smtClean="0"/>
          </a:p>
          <a:p>
            <a:r>
              <a:rPr lang="es-PE" dirty="0" smtClean="0"/>
              <a:t>Comparte </a:t>
            </a:r>
            <a:r>
              <a:rPr lang="es-PE" dirty="0"/>
              <a:t>el puerto con el HTTP </a:t>
            </a:r>
            <a:endParaRPr lang="es-PE" dirty="0" smtClean="0"/>
          </a:p>
          <a:p>
            <a:r>
              <a:rPr lang="es-PE" dirty="0" smtClean="0"/>
              <a:t>Reduce </a:t>
            </a:r>
            <a:r>
              <a:rPr lang="es-PE" dirty="0"/>
              <a:t>de forma drástica el </a:t>
            </a:r>
            <a:r>
              <a:rPr lang="es-PE" dirty="0" err="1"/>
              <a:t>overhead</a:t>
            </a:r>
            <a:r>
              <a:rPr lang="es-PE" dirty="0"/>
              <a:t> </a:t>
            </a:r>
            <a:endParaRPr lang="es-PE" dirty="0" smtClean="0"/>
          </a:p>
          <a:p>
            <a:r>
              <a:rPr lang="es-PE" dirty="0" smtClean="0"/>
              <a:t>La </a:t>
            </a:r>
            <a:r>
              <a:rPr lang="es-PE" dirty="0"/>
              <a:t>conexión se establece a través del </a:t>
            </a:r>
            <a:r>
              <a:rPr lang="es-PE" dirty="0" err="1"/>
              <a:t>upgrade</a:t>
            </a:r>
            <a:r>
              <a:rPr lang="es-PE" dirty="0"/>
              <a:t> del protocolo HTTP al protocolo </a:t>
            </a:r>
            <a:r>
              <a:rPr lang="es-PE" dirty="0" err="1"/>
              <a:t>WebSocket</a:t>
            </a:r>
            <a:r>
              <a:rPr lang="es-PE" dirty="0"/>
              <a:t> usando la misma conexión</a:t>
            </a:r>
          </a:p>
        </p:txBody>
      </p:sp>
    </p:spTree>
    <p:extLst>
      <p:ext uri="{BB962C8B-B14F-4D97-AF65-F5344CB8AC3E}">
        <p14:creationId xmlns:p14="http://schemas.microsoft.com/office/powerpoint/2010/main" val="409868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87045" y="789904"/>
            <a:ext cx="4577246" cy="6127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PE" b="1" dirty="0">
                <a:solidFill>
                  <a:srgbClr val="C00000"/>
                </a:solidFill>
              </a:rPr>
              <a:t>Protocolo WebSocket</a:t>
            </a:r>
          </a:p>
        </p:txBody>
      </p:sp>
      <p:pic>
        <p:nvPicPr>
          <p:cNvPr id="5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05307" y="5694236"/>
            <a:ext cx="3191264" cy="1042975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897924" y="2111625"/>
            <a:ext cx="84520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El protocolo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fue estandarizado por la Internet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Engineering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Task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Force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(IETF) como RFC 6455 en 2011, y el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API de Web IDL está siendo normalizado por el </a:t>
            </a:r>
            <a:r>
              <a:rPr lang="es-PE" dirty="0" smtClean="0">
                <a:solidFill>
                  <a:srgbClr val="3B3835"/>
                </a:solidFill>
                <a:latin typeface="Helvetica Neue"/>
              </a:rPr>
              <a:t>W3C.</a:t>
            </a:r>
          </a:p>
          <a:p>
            <a:endParaRPr lang="es-PE" dirty="0">
              <a:solidFill>
                <a:srgbClr val="3B3835"/>
              </a:solidFill>
              <a:latin typeface="Helvetica Neue"/>
            </a:endParaRPr>
          </a:p>
          <a:p>
            <a:r>
              <a:rPr lang="es-PE" dirty="0" smtClean="0">
                <a:solidFill>
                  <a:srgbClr val="3B3835"/>
                </a:solidFill>
                <a:latin typeface="Helvetica Neue"/>
              </a:rPr>
              <a:t>Fue 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diseñado para trabajar bien con la infraestructura Web existente. Como parte de este principio de diseño, la especificación del protocolo define que la conexión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inicia su vida como una conexión HTTP, garantizando plena compatibilidad hacia atrás con el mundo pre-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8670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95223" y="561762"/>
            <a:ext cx="7178779" cy="83569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PE" b="1" dirty="0">
                <a:solidFill>
                  <a:srgbClr val="C00000"/>
                </a:solidFill>
              </a:rPr>
              <a:t>Beneficios de utilizar WebSockets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8119" t="56713" r="39175" b="4602"/>
          <a:stretch/>
        </p:blipFill>
        <p:spPr>
          <a:xfrm>
            <a:off x="2095223" y="4036244"/>
            <a:ext cx="5190187" cy="2653048"/>
          </a:xfrm>
          <a:prstGeom prst="rect">
            <a:avLst/>
          </a:prstGeom>
        </p:spPr>
      </p:pic>
      <p:pic>
        <p:nvPicPr>
          <p:cNvPr id="6" name="image5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16177"/>
            <a:ext cx="2114820" cy="691170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724930" y="1252932"/>
            <a:ext cx="86085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Los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WebSockets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nos ofrecen una conexión bidireccional entre el servidor y el </a:t>
            </a:r>
            <a:r>
              <a:rPr lang="es-PE" dirty="0" smtClean="0">
                <a:solidFill>
                  <a:srgbClr val="3B3835"/>
                </a:solidFill>
                <a:latin typeface="Helvetica Neue"/>
              </a:rPr>
              <a:t>navegador.</a:t>
            </a:r>
          </a:p>
          <a:p>
            <a:endParaRPr lang="es-PE" dirty="0">
              <a:solidFill>
                <a:srgbClr val="3B3835"/>
              </a:solidFill>
              <a:latin typeface="Helvetica Neue"/>
            </a:endParaRPr>
          </a:p>
          <a:p>
            <a:r>
              <a:rPr lang="es-PE" dirty="0" smtClean="0">
                <a:solidFill>
                  <a:srgbClr val="3B3835"/>
                </a:solidFill>
                <a:latin typeface="Helvetica Neue"/>
              </a:rPr>
              <a:t>Si 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disponemos de un socket abierto, el servidor puede enviar datos a todos los clientes conectados a ese </a:t>
            </a:r>
            <a:r>
              <a:rPr lang="es-PE" dirty="0" smtClean="0">
                <a:solidFill>
                  <a:srgbClr val="3B3835"/>
                </a:solidFill>
                <a:latin typeface="Helvetica Neue"/>
              </a:rPr>
              <a:t>socket.</a:t>
            </a:r>
          </a:p>
          <a:p>
            <a:endParaRPr lang="es-PE" dirty="0">
              <a:solidFill>
                <a:srgbClr val="3B3835"/>
              </a:solidFill>
              <a:latin typeface="Helvetica Neue"/>
            </a:endParaRPr>
          </a:p>
          <a:p>
            <a:r>
              <a:rPr lang="es-PE" dirty="0" smtClean="0">
                <a:solidFill>
                  <a:srgbClr val="3B3835"/>
                </a:solidFill>
                <a:latin typeface="Helvetica Neue"/>
              </a:rPr>
              <a:t>La 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latencia en las comunicaciones es otro de los beneficios de utilizar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WebSockets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. </a:t>
            </a:r>
          </a:p>
          <a:p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r>
              <a:rPr lang="es-PE" dirty="0" smtClean="0">
                <a:solidFill>
                  <a:srgbClr val="3B3835"/>
                </a:solidFill>
                <a:latin typeface="Helvetica Neue"/>
              </a:rPr>
              <a:t>Finalmente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, los datos a transmitir se reducen también de manera drástica.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442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93107" y="558084"/>
            <a:ext cx="4165122" cy="691166"/>
          </a:xfrm>
        </p:spPr>
        <p:txBody>
          <a:bodyPr/>
          <a:lstStyle/>
          <a:p>
            <a:r>
              <a:rPr lang="es-PE" sz="3200" b="1" dirty="0">
                <a:solidFill>
                  <a:srgbClr val="C00000"/>
                </a:solidFill>
              </a:rPr>
              <a:t>Crear un WebSocket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875765" y="3183225"/>
            <a:ext cx="9272788" cy="6546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PE" sz="2000" b="1" dirty="0" smtClean="0">
                <a:solidFill>
                  <a:schemeClr val="accent3">
                    <a:lumMod val="75000"/>
                  </a:schemeClr>
                </a:solidFill>
              </a:rPr>
              <a:t>Var socket = new websockets</a:t>
            </a:r>
            <a:r>
              <a:rPr lang="es-PE" sz="2000" dirty="0" smtClean="0">
                <a:solidFill>
                  <a:srgbClr val="C00000"/>
                </a:solidFill>
              </a:rPr>
              <a:t>(‘</a:t>
            </a:r>
            <a:r>
              <a:rPr lang="es-PE" sz="2000" dirty="0" err="1" smtClean="0">
                <a:solidFill>
                  <a:schemeClr val="accent2"/>
                </a:solidFill>
              </a:rPr>
              <a:t>ws</a:t>
            </a:r>
            <a:r>
              <a:rPr lang="es-PE" sz="2000" dirty="0" smtClean="0">
                <a:solidFill>
                  <a:schemeClr val="accent2"/>
                </a:solidFill>
              </a:rPr>
              <a:t>://html5rocks.websocket.org/tweets</a:t>
            </a:r>
            <a:r>
              <a:rPr lang="es-PE" sz="2000" dirty="0" smtClean="0">
                <a:solidFill>
                  <a:srgbClr val="C00000"/>
                </a:solidFill>
              </a:rPr>
              <a:t>’);</a:t>
            </a:r>
            <a:endParaRPr lang="es-PE" sz="2000" b="1" dirty="0">
              <a:solidFill>
                <a:srgbClr val="C00000"/>
              </a:solidFill>
            </a:endParaRPr>
          </a:p>
        </p:txBody>
      </p:sp>
      <p:pic>
        <p:nvPicPr>
          <p:cNvPr id="8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63639" y="5799777"/>
            <a:ext cx="3191264" cy="1042975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875765" y="1602123"/>
            <a:ext cx="84247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Para abrir una conexión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, sólo tenemos que ejecutar el constructor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, que toma como parámetro la URL del socket a abrir. Hay que tener en cuenta que el protocolo a utilizar es ws://:</a:t>
            </a:r>
            <a:endParaRPr lang="es-PE" dirty="0"/>
          </a:p>
        </p:txBody>
      </p:sp>
      <p:sp>
        <p:nvSpPr>
          <p:cNvPr id="6" name="Rectángulo 5"/>
          <p:cNvSpPr/>
          <p:nvPr/>
        </p:nvSpPr>
        <p:spPr>
          <a:xfrm>
            <a:off x="962229" y="4137108"/>
            <a:ext cx="8338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También existe un protocolo wss:// para conexiones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seguras, de la misma forma que se utiliza https:// para las conexiones HTTP seguras.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1823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36662" y="738388"/>
            <a:ext cx="5903770" cy="6782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PE" sz="3200" b="1" dirty="0">
                <a:solidFill>
                  <a:srgbClr val="C00000"/>
                </a:solidFill>
              </a:rPr>
              <a:t>Comunicación con el servidor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701753" y="3392770"/>
            <a:ext cx="7444336" cy="67828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PE" sz="3200" b="1" dirty="0" err="1" smtClean="0">
                <a:solidFill>
                  <a:schemeClr val="tx1"/>
                </a:solidFill>
              </a:rPr>
              <a:t>Socket.send</a:t>
            </a:r>
            <a:r>
              <a:rPr lang="es-PE" sz="3200" b="1" dirty="0" smtClean="0">
                <a:solidFill>
                  <a:schemeClr val="tx1"/>
                </a:solidFill>
              </a:rPr>
              <a:t>(“</a:t>
            </a:r>
            <a:r>
              <a:rPr lang="es-PE" sz="3200" b="1" dirty="0" err="1" smtClean="0">
                <a:solidFill>
                  <a:srgbClr val="C00000"/>
                </a:solidFill>
              </a:rPr>
              <a:t>hey</a:t>
            </a:r>
            <a:r>
              <a:rPr lang="es-PE" sz="3200" b="1" dirty="0" smtClean="0">
                <a:solidFill>
                  <a:srgbClr val="C00000"/>
                </a:solidFill>
              </a:rPr>
              <a:t> </a:t>
            </a:r>
            <a:r>
              <a:rPr lang="es-PE" sz="3200" b="1" dirty="0" err="1" smtClean="0">
                <a:solidFill>
                  <a:srgbClr val="C00000"/>
                </a:solidFill>
              </a:rPr>
              <a:t>there</a:t>
            </a:r>
            <a:r>
              <a:rPr lang="es-PE" sz="3200" b="1" dirty="0" smtClean="0">
                <a:solidFill>
                  <a:srgbClr val="C00000"/>
                </a:solidFill>
              </a:rPr>
              <a:t>, </a:t>
            </a:r>
            <a:r>
              <a:rPr lang="es-PE" sz="3200" b="1" dirty="0" err="1" smtClean="0">
                <a:solidFill>
                  <a:srgbClr val="C00000"/>
                </a:solidFill>
              </a:rPr>
              <a:t>I’m</a:t>
            </a:r>
            <a:r>
              <a:rPr lang="es-PE" sz="3200" b="1" dirty="0" smtClean="0">
                <a:solidFill>
                  <a:srgbClr val="C00000"/>
                </a:solidFill>
              </a:rPr>
              <a:t> </a:t>
            </a:r>
            <a:r>
              <a:rPr lang="es-PE" sz="3200" b="1" dirty="0" err="1" smtClean="0">
                <a:solidFill>
                  <a:srgbClr val="C00000"/>
                </a:solidFill>
              </a:rPr>
              <a:t>using</a:t>
            </a:r>
            <a:r>
              <a:rPr lang="es-PE" sz="3200" b="1" dirty="0" smtClean="0">
                <a:solidFill>
                  <a:srgbClr val="C00000"/>
                </a:solidFill>
              </a:rPr>
              <a:t> websockets</a:t>
            </a:r>
            <a:r>
              <a:rPr lang="es-PE" sz="3200" b="1" dirty="0" smtClean="0">
                <a:solidFill>
                  <a:schemeClr val="tx1"/>
                </a:solidFill>
              </a:rPr>
              <a:t>”);</a:t>
            </a:r>
            <a:endParaRPr lang="es-PE" sz="3200" b="1" dirty="0">
              <a:solidFill>
                <a:schemeClr val="tx1"/>
              </a:solidFill>
            </a:endParaRPr>
          </a:p>
        </p:txBody>
      </p:sp>
      <p:pic>
        <p:nvPicPr>
          <p:cNvPr id="7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31065" y="5815025"/>
            <a:ext cx="3191264" cy="1042975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947350" y="1868499"/>
            <a:ext cx="80813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Cuando se establece una conexión con el servidor (cuando el evento open se activa), se puede empezar a enviar datos al servidor con el método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send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a través del socket creado.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914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9891" y="945323"/>
            <a:ext cx="2622457" cy="622852"/>
          </a:xfrm>
        </p:spPr>
        <p:txBody>
          <a:bodyPr>
            <a:normAutofit fontScale="90000"/>
          </a:bodyPr>
          <a:lstStyle/>
          <a:p>
            <a:r>
              <a:rPr lang="es-PE" b="1" dirty="0" smtClean="0">
                <a:solidFill>
                  <a:srgbClr val="C00000"/>
                </a:solidFill>
              </a:rPr>
              <a:t>WebSockets</a:t>
            </a:r>
            <a:endParaRPr lang="es-PE" b="1" dirty="0">
              <a:solidFill>
                <a:srgbClr val="C00000"/>
              </a:solidFill>
            </a:endParaRPr>
          </a:p>
        </p:txBody>
      </p:sp>
      <p:pic>
        <p:nvPicPr>
          <p:cNvPr id="6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3191264" cy="1042975"/>
          </a:xfrm>
          <a:prstGeom prst="rect">
            <a:avLst/>
          </a:prstGeom>
          <a:ln/>
        </p:spPr>
      </p:pic>
      <p:sp>
        <p:nvSpPr>
          <p:cNvPr id="7" name="Rectángulo 6"/>
          <p:cNvSpPr/>
          <p:nvPr/>
        </p:nvSpPr>
        <p:spPr>
          <a:xfrm>
            <a:off x="1004214" y="1568175"/>
            <a:ext cx="85003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 La especificación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define un API que establece conexiones "socket" entre un navegador web y un servidor. Dicho con otras palabras: existe una conexión persistente entre el cliente y el servidor, y ambas partes pueden empezar a enviar datos en cualquier momento</a:t>
            </a:r>
            <a:endParaRPr lang="es-PE" dirty="0"/>
          </a:p>
        </p:txBody>
      </p:sp>
      <p:pic>
        <p:nvPicPr>
          <p:cNvPr id="8" name="Picture 2" descr="Resultado de imagen para websock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204" y="2898991"/>
            <a:ext cx="41529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3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082603" y="5815025"/>
            <a:ext cx="3191264" cy="1042975"/>
          </a:xfrm>
          <a:prstGeom prst="rect">
            <a:avLst/>
          </a:prstGeom>
          <a:ln/>
        </p:spPr>
      </p:pic>
      <p:sp>
        <p:nvSpPr>
          <p:cNvPr id="2" name="Rectángulo 1"/>
          <p:cNvSpPr/>
          <p:nvPr/>
        </p:nvSpPr>
        <p:spPr>
          <a:xfrm>
            <a:off x="691978" y="911041"/>
            <a:ext cx="85014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De la misma forma, el servidor puede enviarnos mensajes en cualquier momento. Cada vez que esto ocurra, se activa el evento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onmessage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. Los datos enviados por el servidor se encuentran en la propiedad data del objeto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event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. </a:t>
            </a:r>
            <a:endParaRPr lang="es-PE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91" y="2180671"/>
            <a:ext cx="6913734" cy="353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3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66804" y="1880503"/>
            <a:ext cx="8596668" cy="813270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 El API incorpora además dos eventos que se disparan cuando el socket se abre y está listo, y cuando éste se va a cerrar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54" y="3319776"/>
            <a:ext cx="7372765" cy="2129034"/>
          </a:xfrm>
          <a:prstGeom prst="rect">
            <a:avLst/>
          </a:prstGeom>
        </p:spPr>
      </p:pic>
      <p:pic>
        <p:nvPicPr>
          <p:cNvPr id="5" name="image5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87428"/>
            <a:ext cx="2845419" cy="9299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3683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5754" y="1252113"/>
            <a:ext cx="5259827" cy="6782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PE" sz="3200" b="1" dirty="0">
                <a:solidFill>
                  <a:srgbClr val="C00000"/>
                </a:solidFill>
              </a:rPr>
              <a:t>WebSocket en el servidor</a:t>
            </a:r>
          </a:p>
        </p:txBody>
      </p:sp>
      <p:sp>
        <p:nvSpPr>
          <p:cNvPr id="3" name="Rectángulo 2"/>
          <p:cNvSpPr/>
          <p:nvPr/>
        </p:nvSpPr>
        <p:spPr>
          <a:xfrm>
            <a:off x="833193" y="2535362"/>
            <a:ext cx="84838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solidFill>
                  <a:srgbClr val="3B3835"/>
                </a:solidFill>
                <a:latin typeface="Helvetica Neue"/>
              </a:rPr>
              <a:t>Al utilizar los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, se crea un patrón de uso completamente nuevo para las aplicaciones de servidor. Aunque las pilas de servidor tradicionales como LAMP están diseñadas a partir del ciclo de solicitud-respuesta de HTTP, a menudo dan problemas si hay muchas conexiones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abiertas</a:t>
            </a:r>
            <a:endParaRPr lang="es-PE" dirty="0"/>
          </a:p>
        </p:txBody>
      </p:sp>
      <p:pic>
        <p:nvPicPr>
          <p:cNvPr id="5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22711" y="5837439"/>
            <a:ext cx="2845419" cy="9299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7584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69804" y="918693"/>
            <a:ext cx="3044660" cy="755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PE" sz="3200" b="1" dirty="0">
                <a:solidFill>
                  <a:srgbClr val="C00000"/>
                </a:solidFill>
              </a:rPr>
              <a:t>Conclusiones</a:t>
            </a:r>
          </a:p>
        </p:txBody>
      </p:sp>
      <p:pic>
        <p:nvPicPr>
          <p:cNvPr id="6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48320"/>
            <a:ext cx="3191264" cy="1042975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676635" y="1917558"/>
            <a:ext cx="90984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 smtClean="0">
                <a:solidFill>
                  <a:srgbClr val="3B3835"/>
                </a:solidFill>
                <a:latin typeface="Helvetica Neue"/>
              </a:rPr>
              <a:t>Esta tecnología tiene 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muchos beneficios ya que, al momento de utilizar una conexión “socket” puede haber </a:t>
            </a:r>
            <a:r>
              <a:rPr lang="es-PE" dirty="0" smtClean="0">
                <a:solidFill>
                  <a:srgbClr val="3B3835"/>
                </a:solidFill>
                <a:latin typeface="Helvetica Neue"/>
              </a:rPr>
              <a:t>mayor 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interactividad en tiempo real con un cliente y el servidor, así mismo crear un </a:t>
            </a:r>
            <a:r>
              <a:rPr lang="es-PE" dirty="0" err="1">
                <a:solidFill>
                  <a:srgbClr val="3B3835"/>
                </a:solidFill>
                <a:latin typeface="Helvetica Neue"/>
              </a:rPr>
              <a:t>WebSocket</a:t>
            </a:r>
            <a:r>
              <a:rPr lang="es-PE" dirty="0">
                <a:solidFill>
                  <a:srgbClr val="3B3835"/>
                </a:solidFill>
                <a:latin typeface="Helvetica Neue"/>
              </a:rPr>
              <a:t> es fácil comparado con otras maneras de crear conexiones. </a:t>
            </a:r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endParaRPr lang="es-PE" dirty="0" smtClean="0">
              <a:solidFill>
                <a:srgbClr val="3B3835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625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31087" y="772732"/>
            <a:ext cx="2641382" cy="784180"/>
          </a:xfrm>
        </p:spPr>
        <p:txBody>
          <a:bodyPr/>
          <a:lstStyle/>
          <a:p>
            <a:r>
              <a:rPr lang="es-PE" sz="3200" b="1" dirty="0">
                <a:solidFill>
                  <a:srgbClr val="C00000"/>
                </a:solidFill>
              </a:rPr>
              <a:t>Referencia</a:t>
            </a:r>
          </a:p>
        </p:txBody>
      </p:sp>
      <p:pic>
        <p:nvPicPr>
          <p:cNvPr id="5" name="image5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327550" y="4998262"/>
            <a:ext cx="3191264" cy="1042975"/>
          </a:xfrm>
          <a:prstGeom prst="rect">
            <a:avLst/>
          </a:prstGeom>
          <a:ln/>
        </p:spPr>
      </p:pic>
      <p:sp>
        <p:nvSpPr>
          <p:cNvPr id="3" name="Rectángulo 2"/>
          <p:cNvSpPr/>
          <p:nvPr/>
        </p:nvSpPr>
        <p:spPr>
          <a:xfrm>
            <a:off x="1968844" y="226576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PE" dirty="0" smtClean="0">
                <a:solidFill>
                  <a:srgbClr val="3B3835"/>
                </a:solidFill>
                <a:latin typeface="Helvetica Neue"/>
                <a:hlinkClick r:id="rId3"/>
              </a:rPr>
              <a:t>http</a:t>
            </a:r>
            <a:r>
              <a:rPr lang="es-PE" dirty="0">
                <a:solidFill>
                  <a:srgbClr val="3B3835"/>
                </a:solidFill>
                <a:latin typeface="Helvetica Neue"/>
                <a:hlinkClick r:id="rId3"/>
              </a:rPr>
              <a:t>://</a:t>
            </a:r>
            <a:r>
              <a:rPr lang="es-PE" dirty="0" smtClean="0">
                <a:solidFill>
                  <a:srgbClr val="3B3835"/>
                </a:solidFill>
                <a:latin typeface="Helvetica Neue"/>
                <a:hlinkClick r:id="rId3"/>
              </a:rPr>
              <a:t>www.arkaitzgarro.com/html5/capitulo-13.html</a:t>
            </a:r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endParaRPr lang="es-PE" dirty="0" smtClean="0">
              <a:solidFill>
                <a:srgbClr val="3B3835"/>
              </a:solidFill>
              <a:latin typeface="Helvetica Neue"/>
              <a:hlinkClick r:id="rId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PE" dirty="0" smtClean="0">
                <a:solidFill>
                  <a:srgbClr val="3B3835"/>
                </a:solidFill>
                <a:latin typeface="Helvetica Neue"/>
                <a:hlinkClick r:id="rId4"/>
              </a:rPr>
              <a:t>https</a:t>
            </a:r>
            <a:r>
              <a:rPr lang="es-PE" dirty="0">
                <a:solidFill>
                  <a:srgbClr val="3B3835"/>
                </a:solidFill>
                <a:latin typeface="Helvetica Neue"/>
                <a:hlinkClick r:id="rId4"/>
              </a:rPr>
              <a:t>://</a:t>
            </a:r>
            <a:r>
              <a:rPr lang="es-PE" dirty="0" smtClean="0">
                <a:solidFill>
                  <a:srgbClr val="3B3835"/>
                </a:solidFill>
                <a:latin typeface="Helvetica Neue"/>
                <a:hlinkClick r:id="rId4"/>
              </a:rPr>
              <a:t>www.websocket.org</a:t>
            </a:r>
            <a:endParaRPr lang="es-PE" dirty="0">
              <a:solidFill>
                <a:srgbClr val="3B3835"/>
              </a:solidFill>
              <a:latin typeface="Helvetica Neue"/>
            </a:endParaRPr>
          </a:p>
          <a:p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PE" dirty="0" smtClean="0">
                <a:solidFill>
                  <a:srgbClr val="3B3835"/>
                </a:solidFill>
                <a:latin typeface="Helvetica Neue"/>
                <a:hlinkClick r:id="rId5"/>
              </a:rPr>
              <a:t>http</a:t>
            </a:r>
            <a:r>
              <a:rPr lang="es-PE" dirty="0">
                <a:solidFill>
                  <a:srgbClr val="3B3835"/>
                </a:solidFill>
                <a:latin typeface="Helvetica Neue"/>
                <a:hlinkClick r:id="rId5"/>
              </a:rPr>
              <a:t>://</a:t>
            </a:r>
            <a:r>
              <a:rPr lang="es-PE" dirty="0" smtClean="0">
                <a:solidFill>
                  <a:srgbClr val="3B3835"/>
                </a:solidFill>
                <a:latin typeface="Helvetica Neue"/>
                <a:hlinkClick r:id="rId5"/>
              </a:rPr>
              <a:t>es.wikipedia.org/wiki/WebSocket</a:t>
            </a:r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PE" dirty="0">
                <a:solidFill>
                  <a:srgbClr val="3B3835"/>
                </a:solidFill>
                <a:latin typeface="Helvetica Neue"/>
                <a:hlinkClick r:id="rId6"/>
              </a:rPr>
              <a:t>https://</a:t>
            </a:r>
            <a:r>
              <a:rPr lang="es-PE" dirty="0" smtClean="0">
                <a:solidFill>
                  <a:srgbClr val="3B3835"/>
                </a:solidFill>
                <a:latin typeface="Helvetica Neue"/>
                <a:hlinkClick r:id="rId6"/>
              </a:rPr>
              <a:t>www.youtube.com/watch?v=SCe5A0lQzlM</a:t>
            </a:r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PE" dirty="0">
              <a:solidFill>
                <a:srgbClr val="3B3835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PE" dirty="0">
                <a:solidFill>
                  <a:srgbClr val="3B3835"/>
                </a:solidFill>
                <a:latin typeface="Helvetica Neue"/>
                <a:hlinkClick r:id="rId7"/>
              </a:rPr>
              <a:t>https://</a:t>
            </a:r>
            <a:r>
              <a:rPr lang="es-PE" dirty="0" smtClean="0">
                <a:solidFill>
                  <a:srgbClr val="3B3835"/>
                </a:solidFill>
                <a:latin typeface="Helvetica Neue"/>
                <a:hlinkClick r:id="rId7"/>
              </a:rPr>
              <a:t>www.youtube.com/watch?v=GhuyqjWPjGk</a:t>
            </a:r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endParaRPr lang="es-PE" dirty="0" smtClean="0">
              <a:solidFill>
                <a:srgbClr val="3B3835"/>
              </a:solidFill>
              <a:latin typeface="Helvetica Neue"/>
            </a:endParaRPr>
          </a:p>
          <a:p>
            <a:endParaRPr lang="es-PE" dirty="0">
              <a:solidFill>
                <a:srgbClr val="3B3835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3222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</TotalTime>
  <Words>587</Words>
  <Application>Microsoft Office PowerPoint</Application>
  <PresentationFormat>Panorámica</PresentationFormat>
  <Paragraphs>62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Geneva</vt:lpstr>
      <vt:lpstr>Helvetica Neue</vt:lpstr>
      <vt:lpstr>Trebuchet MS</vt:lpstr>
      <vt:lpstr>Wingdings</vt:lpstr>
      <vt:lpstr>Wingdings 3</vt:lpstr>
      <vt:lpstr>Faceta</vt:lpstr>
      <vt:lpstr>FACULTAD DE INGENIERIA DE SISTEMAS EMPRESARIALES</vt:lpstr>
      <vt:lpstr>Presentación de PowerPoint</vt:lpstr>
      <vt:lpstr>WebSockets</vt:lpstr>
      <vt:lpstr>Características</vt:lpstr>
      <vt:lpstr>Protocolo WebSocket</vt:lpstr>
      <vt:lpstr>Beneficios de utilizar WebSockets</vt:lpstr>
      <vt:lpstr>Crear un WebSocket</vt:lpstr>
      <vt:lpstr>Comunicación con el servidor</vt:lpstr>
      <vt:lpstr>WebSockets</vt:lpstr>
      <vt:lpstr>Presentación de PowerPoint</vt:lpstr>
      <vt:lpstr>Presentación de PowerPoint</vt:lpstr>
      <vt:lpstr>WebSocket en el servidor</vt:lpstr>
      <vt:lpstr>Conclusiones</vt:lpstr>
      <vt:lpstr>Referencia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Fernando Cuesta</cp:lastModifiedBy>
  <cp:revision>21</cp:revision>
  <dcterms:created xsi:type="dcterms:W3CDTF">2016-08-10T02:24:07Z</dcterms:created>
  <dcterms:modified xsi:type="dcterms:W3CDTF">2016-12-07T00:44:26Z</dcterms:modified>
</cp:coreProperties>
</file>